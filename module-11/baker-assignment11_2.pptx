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292" r:id="rId5"/>
    <p:sldId id="299" r:id="rId6"/>
    <p:sldId id="297" r:id="rId7"/>
    <p:sldId id="261" r:id="rId8"/>
    <p:sldId id="300" r:id="rId9"/>
    <p:sldId id="301" r:id="rId10"/>
    <p:sldId id="302" r:id="rId11"/>
    <p:sldId id="303" r:id="rId12"/>
    <p:sldId id="295" r:id="rId13"/>
    <p:sldId id="289"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9782" autoAdjust="0"/>
  </p:normalViewPr>
  <p:slideViewPr>
    <p:cSldViewPr snapToGrid="0" showGuides="1">
      <p:cViewPr varScale="1">
        <p:scale>
          <a:sx n="88" d="100"/>
          <a:sy n="88" d="100"/>
        </p:scale>
        <p:origin x="1470" y="90"/>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3/8/2026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3/8/2026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of least privilege allows for users and service accounts to only be granted the necessary permissions to perform their jobs. This ensures there is no unnecessary outlier that creates a vulnerability somewhere else in the system when an individual should not be allowed to access it in the first place. This is essentially the digital version of physical ID badges and their privileges. On a similar thought to </a:t>
            </a:r>
            <a:r>
              <a:rPr lang="en-US" dirty="0" err="1"/>
              <a:t>PoLP</a:t>
            </a:r>
            <a:r>
              <a:rPr lang="en-US" dirty="0"/>
              <a:t>, Role-Based Access Control restricts access to repositories and branches based on defined user roles and allows for access logs to be constantly reviewed. Muti-Factor Authentication can be implemented to provide an extra layer of security to team members accessing the repository. Secure service identities utilize secure, scoped, and dedicated accounts for services such as CI/CD pipelines rather than using original accounts. This allows for more control over who has direct access to the account and what it is given access to do.</a:t>
            </a:r>
          </a:p>
        </p:txBody>
      </p:sp>
      <p:sp>
        <p:nvSpPr>
          <p:cNvPr id="4" name="Slide Number Placeholder 3"/>
          <p:cNvSpPr>
            <a:spLocks noGrp="1"/>
          </p:cNvSpPr>
          <p:nvPr>
            <p:ph type="sldNum" sz="quarter" idx="5"/>
          </p:nvPr>
        </p:nvSpPr>
        <p:spPr/>
        <p:txBody>
          <a:bodyPr/>
          <a:lstStyle/>
          <a:p>
            <a:fld id="{D060679C-80C7-4E7D-9614-ABA41C5B2858}" type="slidenum">
              <a:rPr lang="en-US" smtClean="0"/>
              <a:t>4</a:t>
            </a:fld>
            <a:endParaRPr lang="en-US" dirty="0"/>
          </a:p>
        </p:txBody>
      </p:sp>
    </p:spTree>
    <p:extLst>
      <p:ext uri="{BB962C8B-B14F-4D97-AF65-F5344CB8AC3E}">
        <p14:creationId xmlns:p14="http://schemas.microsoft.com/office/powerpoint/2010/main" val="3583765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41F11-97F6-C5DA-D0EF-B5CB981A09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09F7D-41FF-A553-5928-F18178F70A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5922E9-B445-7A5F-1312-50C0D65AACC2}"/>
              </a:ext>
            </a:extLst>
          </p:cNvPr>
          <p:cNvSpPr>
            <a:spLocks noGrp="1"/>
          </p:cNvSpPr>
          <p:nvPr>
            <p:ph type="body" idx="1"/>
          </p:nvPr>
        </p:nvSpPr>
        <p:spPr/>
        <p:txBody>
          <a:bodyPr/>
          <a:lstStyle/>
          <a:p>
            <a:r>
              <a:rPr lang="en-US" dirty="0"/>
              <a:t>Secrets management allows for the prevention of hardcoding sensitive information such as API keys and passwords in the source code. This would allow for anyone to be able to grab the sensitive data without having to bypass any security layers. Dedicated secrets management tools can be utilized to store and manage secrets separately which makes it easier for developers. Static Application Security Testing is an automatic code scan for security vulnerabilities and suspicious patterns as it is written or committed. This would allow personnel such as a team lead or project manager to flag suspicious activity which may warrant further investigation and analysis. Software Composition Analysis scans dependencies and third-party libraries for known vulnerabilities which can be significant depending on how many, if any, dependencies are utilized in the project. Dynamic Application Security Testing allows for the monitor and testing of applications in their running state to identify vulnerabilities that may not be apparent in the code itself. This allows to understand how the application runs and pinpoint any potential vulnerabilities while doing so. </a:t>
            </a:r>
          </a:p>
        </p:txBody>
      </p:sp>
      <p:sp>
        <p:nvSpPr>
          <p:cNvPr id="4" name="Slide Number Placeholder 3">
            <a:extLst>
              <a:ext uri="{FF2B5EF4-FFF2-40B4-BE49-F238E27FC236}">
                <a16:creationId xmlns:a16="http://schemas.microsoft.com/office/drawing/2014/main" id="{0B3CC3D2-63A4-2A7D-D020-BC71D9A3B70E}"/>
              </a:ext>
            </a:extLst>
          </p:cNvPr>
          <p:cNvSpPr>
            <a:spLocks noGrp="1"/>
          </p:cNvSpPr>
          <p:nvPr>
            <p:ph type="sldNum" sz="quarter" idx="5"/>
          </p:nvPr>
        </p:nvSpPr>
        <p:spPr/>
        <p:txBody>
          <a:bodyPr/>
          <a:lstStyle/>
          <a:p>
            <a:fld id="{D060679C-80C7-4E7D-9614-ABA41C5B2858}" type="slidenum">
              <a:rPr lang="en-US" smtClean="0"/>
              <a:t>6</a:t>
            </a:fld>
            <a:endParaRPr lang="en-US" dirty="0"/>
          </a:p>
        </p:txBody>
      </p:sp>
    </p:spTree>
    <p:extLst>
      <p:ext uri="{BB962C8B-B14F-4D97-AF65-F5344CB8AC3E}">
        <p14:creationId xmlns:p14="http://schemas.microsoft.com/office/powerpoint/2010/main" val="2860666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A6034-00FC-B01F-0CB6-0624557CBE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621F7-7B39-0158-1B1B-AA7DB8275F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1F8C1-76A9-3046-B57A-D34FBCBE30E1}"/>
              </a:ext>
            </a:extLst>
          </p:cNvPr>
          <p:cNvSpPr>
            <a:spLocks noGrp="1"/>
          </p:cNvSpPr>
          <p:nvPr>
            <p:ph type="body" idx="1"/>
          </p:nvPr>
        </p:nvSpPr>
        <p:spPr/>
        <p:txBody>
          <a:bodyPr/>
          <a:lstStyle/>
          <a:p>
            <a:r>
              <a:rPr lang="en-US" dirty="0"/>
              <a:t>The term “Secure as Code” references the defining and enforcement of security policies and standards within the repository configuration and CI/CD pipelines. It becomes hard to follow a process when there is not one to begin with. This allows for developers to have policies and standards that must be met, followed, and complied with during the CI/CD process. Security education is all about educating developers about secure coding practices, potential threats like phishing, and the importance of a shared security responsibility culture. Ensuring that developers remain in-touch with modern practices and concerns allows them to be more vigilant while in the development process. Regular audits and testing helps to identify weaknesses and measure the effectiveness of the security strategy. This is essentially putting the process to the test and seeing whether there are any vulnerabilities in the process itself. </a:t>
            </a:r>
          </a:p>
        </p:txBody>
      </p:sp>
      <p:sp>
        <p:nvSpPr>
          <p:cNvPr id="4" name="Slide Number Placeholder 3">
            <a:extLst>
              <a:ext uri="{FF2B5EF4-FFF2-40B4-BE49-F238E27FC236}">
                <a16:creationId xmlns:a16="http://schemas.microsoft.com/office/drawing/2014/main" id="{3E6CF952-1F76-B9C5-54E7-A31592191494}"/>
              </a:ext>
            </a:extLst>
          </p:cNvPr>
          <p:cNvSpPr>
            <a:spLocks noGrp="1"/>
          </p:cNvSpPr>
          <p:nvPr>
            <p:ph type="sldNum" sz="quarter" idx="5"/>
          </p:nvPr>
        </p:nvSpPr>
        <p:spPr/>
        <p:txBody>
          <a:bodyPr/>
          <a:lstStyle/>
          <a:p>
            <a:fld id="{D060679C-80C7-4E7D-9614-ABA41C5B2858}" type="slidenum">
              <a:rPr lang="en-US" smtClean="0"/>
              <a:t>8</a:t>
            </a:fld>
            <a:endParaRPr lang="en-US" dirty="0"/>
          </a:p>
        </p:txBody>
      </p:sp>
    </p:spTree>
    <p:extLst>
      <p:ext uri="{BB962C8B-B14F-4D97-AF65-F5344CB8AC3E}">
        <p14:creationId xmlns:p14="http://schemas.microsoft.com/office/powerpoint/2010/main" val="283785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9</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normAutofit fontScale="90000"/>
          </a:bodyPr>
          <a:lstStyle/>
          <a:p>
            <a:r>
              <a:rPr lang="en-US" altLang="zh-CN" dirty="0"/>
              <a:t>Security Controls in Shared Source Code Repositories</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Zac Baker</a:t>
            </a:r>
          </a:p>
          <a:p>
            <a:r>
              <a:rPr lang="en-US" dirty="0"/>
              <a:t>Module 11.2 Assignment</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lstStyle/>
          <a:p>
            <a:r>
              <a:rPr lang="en-US" dirty="0"/>
              <a:t>Access &amp; Identity Management</a:t>
            </a:r>
          </a:p>
          <a:p>
            <a:r>
              <a:rPr lang="en-US" dirty="0"/>
              <a:t>Automated Security Scanning</a:t>
            </a:r>
          </a:p>
          <a:p>
            <a:r>
              <a:rPr lang="en-US" dirty="0"/>
              <a:t>Policy &amp; Culture</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Access &amp; Identity Management</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r>
              <a:rPr lang="en-US" dirty="0"/>
              <a:t>Who has the access?</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dirty="0"/>
              <a:t>Controlling Access</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487168"/>
            <a:ext cx="5029200" cy="3383280"/>
          </a:xfrm>
          <a:noFill/>
        </p:spPr>
        <p:txBody>
          <a:bodyPr>
            <a:normAutofit/>
          </a:bodyPr>
          <a:lstStyle/>
          <a:p>
            <a:r>
              <a:rPr lang="en-US" dirty="0"/>
              <a:t>Principle of Least Privilege (</a:t>
            </a:r>
            <a:r>
              <a:rPr lang="en-US" dirty="0" err="1"/>
              <a:t>PoLP</a:t>
            </a:r>
            <a:r>
              <a:rPr lang="en-US" dirty="0"/>
              <a:t>)</a:t>
            </a:r>
          </a:p>
          <a:p>
            <a:r>
              <a:rPr lang="en-US" dirty="0"/>
              <a:t>Role-Based Access Control (RBAC)</a:t>
            </a:r>
          </a:p>
          <a:p>
            <a:r>
              <a:rPr lang="en-US" dirty="0"/>
              <a:t>Multi-Factor Authentication (MFA)</a:t>
            </a:r>
          </a:p>
          <a:p>
            <a:r>
              <a:rPr lang="en-US" dirty="0"/>
              <a:t>Secure Service Identities</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0F3DB-0EF9-69D5-30EA-2AE0B6551D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E8B26-36B3-EB28-DBB5-E34D2B58CDAA}"/>
              </a:ext>
            </a:extLst>
          </p:cNvPr>
          <p:cNvSpPr>
            <a:spLocks noGrp="1"/>
          </p:cNvSpPr>
          <p:nvPr>
            <p:ph type="title"/>
          </p:nvPr>
        </p:nvSpPr>
        <p:spPr>
          <a:xfrm>
            <a:off x="5998464" y="731520"/>
            <a:ext cx="5029200" cy="3291840"/>
          </a:xfrm>
        </p:spPr>
        <p:txBody>
          <a:bodyPr lIns="0" anchor="b" anchorCtr="0"/>
          <a:lstStyle/>
          <a:p>
            <a:r>
              <a:rPr lang="en-US" dirty="0"/>
              <a:t>Automated Security Scanning</a:t>
            </a:r>
          </a:p>
        </p:txBody>
      </p:sp>
      <p:sp>
        <p:nvSpPr>
          <p:cNvPr id="3" name="Text Placeholder 2">
            <a:extLst>
              <a:ext uri="{FF2B5EF4-FFF2-40B4-BE49-F238E27FC236}">
                <a16:creationId xmlns:a16="http://schemas.microsoft.com/office/drawing/2014/main" id="{7FFA0F44-586D-98C4-A8FA-062307E93420}"/>
              </a:ext>
            </a:extLst>
          </p:cNvPr>
          <p:cNvSpPr>
            <a:spLocks noGrp="1"/>
          </p:cNvSpPr>
          <p:nvPr>
            <p:ph type="body" sz="quarter" idx="28"/>
          </p:nvPr>
        </p:nvSpPr>
        <p:spPr>
          <a:xfrm>
            <a:off x="6117336" y="4172084"/>
            <a:ext cx="4910328" cy="1005840"/>
          </a:xfrm>
        </p:spPr>
        <p:txBody>
          <a:bodyPr/>
          <a:lstStyle/>
          <a:p>
            <a:r>
              <a:rPr lang="en-US" dirty="0"/>
              <a:t>Automatically mitigate vulnerabilities</a:t>
            </a:r>
          </a:p>
        </p:txBody>
      </p:sp>
    </p:spTree>
    <p:extLst>
      <p:ext uri="{BB962C8B-B14F-4D97-AF65-F5344CB8AC3E}">
        <p14:creationId xmlns:p14="http://schemas.microsoft.com/office/powerpoint/2010/main" val="1372944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ACFF1-9DEA-AD55-6897-FCCA96C0C0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00FB8-C7FF-AD0A-6D12-9F045D7B4A2F}"/>
              </a:ext>
            </a:extLst>
          </p:cNvPr>
          <p:cNvSpPr>
            <a:spLocks noGrp="1"/>
          </p:cNvSpPr>
          <p:nvPr>
            <p:ph type="title"/>
          </p:nvPr>
        </p:nvSpPr>
        <p:spPr>
          <a:xfrm>
            <a:off x="914400" y="2487168"/>
            <a:ext cx="4572000" cy="3383280"/>
          </a:xfrm>
          <a:noFill/>
        </p:spPr>
        <p:txBody>
          <a:bodyPr anchor="t" anchorCtr="0">
            <a:noAutofit/>
          </a:bodyPr>
          <a:lstStyle/>
          <a:p>
            <a:r>
              <a:rPr lang="en-US" dirty="0"/>
              <a:t>Automate the Process</a:t>
            </a:r>
          </a:p>
        </p:txBody>
      </p:sp>
      <p:sp>
        <p:nvSpPr>
          <p:cNvPr id="3" name="Content Placeholder 2">
            <a:extLst>
              <a:ext uri="{FF2B5EF4-FFF2-40B4-BE49-F238E27FC236}">
                <a16:creationId xmlns:a16="http://schemas.microsoft.com/office/drawing/2014/main" id="{A107E965-740A-424C-487B-C260CD8366DB}"/>
              </a:ext>
            </a:extLst>
          </p:cNvPr>
          <p:cNvSpPr>
            <a:spLocks noGrp="1"/>
          </p:cNvSpPr>
          <p:nvPr>
            <p:ph idx="1"/>
          </p:nvPr>
        </p:nvSpPr>
        <p:spPr>
          <a:xfrm>
            <a:off x="6217920" y="2487168"/>
            <a:ext cx="5029200" cy="3383280"/>
          </a:xfrm>
          <a:noFill/>
        </p:spPr>
        <p:txBody>
          <a:bodyPr>
            <a:normAutofit/>
          </a:bodyPr>
          <a:lstStyle/>
          <a:p>
            <a:r>
              <a:rPr lang="en-US" dirty="0"/>
              <a:t>Secrets Management</a:t>
            </a:r>
          </a:p>
          <a:p>
            <a:r>
              <a:rPr lang="en-US" dirty="0"/>
              <a:t>Static Application Security Testing (SAST)</a:t>
            </a:r>
          </a:p>
          <a:p>
            <a:r>
              <a:rPr lang="en-US" dirty="0"/>
              <a:t>Software Composition Analysis (SCA)</a:t>
            </a:r>
          </a:p>
          <a:p>
            <a:r>
              <a:rPr lang="en-US" dirty="0"/>
              <a:t>Dynamic Application Security Testing (DAST)</a:t>
            </a:r>
          </a:p>
        </p:txBody>
      </p:sp>
      <p:sp>
        <p:nvSpPr>
          <p:cNvPr id="4" name="Slide Number Placeholder 3">
            <a:extLst>
              <a:ext uri="{FF2B5EF4-FFF2-40B4-BE49-F238E27FC236}">
                <a16:creationId xmlns:a16="http://schemas.microsoft.com/office/drawing/2014/main" id="{BC157416-440F-A6E9-DCF9-09247C2A6B2F}"/>
              </a:ext>
            </a:extLst>
          </p:cNvPr>
          <p:cNvSpPr>
            <a:spLocks noGrp="1"/>
          </p:cNvSpPr>
          <p:nvPr>
            <p:ph type="sldNum" sz="quarter" idx="12"/>
          </p:nvPr>
        </p:nvSpPr>
        <p:spPr/>
        <p:txBody>
          <a:bodyPr/>
          <a:lstStyle/>
          <a:p>
            <a:fld id="{69E57DC2-970A-4B3E-BB1C-7A09969E49DF}" type="slidenum">
              <a:rPr lang="en-US" smtClean="0"/>
              <a:t>6</a:t>
            </a:fld>
            <a:endParaRPr lang="en-US" dirty="0"/>
          </a:p>
        </p:txBody>
      </p:sp>
    </p:spTree>
    <p:extLst>
      <p:ext uri="{BB962C8B-B14F-4D97-AF65-F5344CB8AC3E}">
        <p14:creationId xmlns:p14="http://schemas.microsoft.com/office/powerpoint/2010/main" val="773534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5F211-488E-151B-E04A-EB738A46F6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5CC97-F842-8E54-6413-BF81BFA8A80A}"/>
              </a:ext>
            </a:extLst>
          </p:cNvPr>
          <p:cNvSpPr>
            <a:spLocks noGrp="1"/>
          </p:cNvSpPr>
          <p:nvPr>
            <p:ph type="title"/>
          </p:nvPr>
        </p:nvSpPr>
        <p:spPr>
          <a:xfrm>
            <a:off x="5998464" y="731520"/>
            <a:ext cx="5029200" cy="3291840"/>
          </a:xfrm>
        </p:spPr>
        <p:txBody>
          <a:bodyPr lIns="0" anchor="b" anchorCtr="0"/>
          <a:lstStyle/>
          <a:p>
            <a:r>
              <a:rPr lang="en-US" dirty="0"/>
              <a:t>Policy &amp; Culture</a:t>
            </a:r>
          </a:p>
        </p:txBody>
      </p:sp>
      <p:sp>
        <p:nvSpPr>
          <p:cNvPr id="3" name="Text Placeholder 2">
            <a:extLst>
              <a:ext uri="{FF2B5EF4-FFF2-40B4-BE49-F238E27FC236}">
                <a16:creationId xmlns:a16="http://schemas.microsoft.com/office/drawing/2014/main" id="{88F66EDE-37C2-83E1-FFB2-3E32541D659D}"/>
              </a:ext>
            </a:extLst>
          </p:cNvPr>
          <p:cNvSpPr>
            <a:spLocks noGrp="1"/>
          </p:cNvSpPr>
          <p:nvPr>
            <p:ph type="body" sz="quarter" idx="28"/>
          </p:nvPr>
        </p:nvSpPr>
        <p:spPr>
          <a:xfrm>
            <a:off x="6117336" y="4172084"/>
            <a:ext cx="4910328" cy="1005840"/>
          </a:xfrm>
        </p:spPr>
        <p:txBody>
          <a:bodyPr/>
          <a:lstStyle/>
          <a:p>
            <a:r>
              <a:rPr lang="en-US" dirty="0"/>
              <a:t>Create and enforce a quality culture</a:t>
            </a:r>
          </a:p>
        </p:txBody>
      </p:sp>
    </p:spTree>
    <p:extLst>
      <p:ext uri="{BB962C8B-B14F-4D97-AF65-F5344CB8AC3E}">
        <p14:creationId xmlns:p14="http://schemas.microsoft.com/office/powerpoint/2010/main" val="400137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31629-EBD0-A6E5-6516-4287986AF6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D313FE-3DCC-0377-5ACB-DBABBE1654B7}"/>
              </a:ext>
            </a:extLst>
          </p:cNvPr>
          <p:cNvSpPr>
            <a:spLocks noGrp="1"/>
          </p:cNvSpPr>
          <p:nvPr>
            <p:ph type="title"/>
          </p:nvPr>
        </p:nvSpPr>
        <p:spPr>
          <a:xfrm>
            <a:off x="914400" y="2487168"/>
            <a:ext cx="4572000" cy="3383280"/>
          </a:xfrm>
          <a:noFill/>
        </p:spPr>
        <p:txBody>
          <a:bodyPr anchor="t" anchorCtr="0">
            <a:noAutofit/>
          </a:bodyPr>
          <a:lstStyle/>
          <a:p>
            <a:r>
              <a:rPr lang="en-US" dirty="0"/>
              <a:t>Creating an Identity</a:t>
            </a:r>
          </a:p>
        </p:txBody>
      </p:sp>
      <p:sp>
        <p:nvSpPr>
          <p:cNvPr id="3" name="Content Placeholder 2">
            <a:extLst>
              <a:ext uri="{FF2B5EF4-FFF2-40B4-BE49-F238E27FC236}">
                <a16:creationId xmlns:a16="http://schemas.microsoft.com/office/drawing/2014/main" id="{46A04A5A-8B70-5829-0430-D0CE180873D9}"/>
              </a:ext>
            </a:extLst>
          </p:cNvPr>
          <p:cNvSpPr>
            <a:spLocks noGrp="1"/>
          </p:cNvSpPr>
          <p:nvPr>
            <p:ph idx="1"/>
          </p:nvPr>
        </p:nvSpPr>
        <p:spPr>
          <a:xfrm>
            <a:off x="6217920" y="2487168"/>
            <a:ext cx="5029200" cy="3383280"/>
          </a:xfrm>
          <a:noFill/>
        </p:spPr>
        <p:txBody>
          <a:bodyPr>
            <a:normAutofit/>
          </a:bodyPr>
          <a:lstStyle/>
          <a:p>
            <a:r>
              <a:rPr lang="en-US" dirty="0"/>
              <a:t>“Secure as Code”</a:t>
            </a:r>
          </a:p>
          <a:p>
            <a:r>
              <a:rPr lang="en-US" dirty="0"/>
              <a:t>Security Education</a:t>
            </a:r>
          </a:p>
          <a:p>
            <a:r>
              <a:rPr lang="en-US" dirty="0"/>
              <a:t>Regular Audits and Testing</a:t>
            </a:r>
          </a:p>
        </p:txBody>
      </p:sp>
      <p:sp>
        <p:nvSpPr>
          <p:cNvPr id="4" name="Slide Number Placeholder 3">
            <a:extLst>
              <a:ext uri="{FF2B5EF4-FFF2-40B4-BE49-F238E27FC236}">
                <a16:creationId xmlns:a16="http://schemas.microsoft.com/office/drawing/2014/main" id="{B316732A-2158-3927-DB8D-F2FAD50E0A8F}"/>
              </a:ext>
            </a:extLst>
          </p:cNvPr>
          <p:cNvSpPr>
            <a:spLocks noGrp="1"/>
          </p:cNvSpPr>
          <p:nvPr>
            <p:ph type="sldNum" sz="quarter" idx="12"/>
          </p:nvPr>
        </p:nvSpPr>
        <p:spPr/>
        <p:txBody>
          <a:bodyPr/>
          <a:lstStyle/>
          <a:p>
            <a:fld id="{69E57DC2-970A-4B3E-BB1C-7A09969E49DF}" type="slidenum">
              <a:rPr lang="en-US" smtClean="0"/>
              <a:t>8</a:t>
            </a:fld>
            <a:endParaRPr lang="en-US" dirty="0"/>
          </a:p>
        </p:txBody>
      </p:sp>
    </p:spTree>
    <p:extLst>
      <p:ext uri="{BB962C8B-B14F-4D97-AF65-F5344CB8AC3E}">
        <p14:creationId xmlns:p14="http://schemas.microsoft.com/office/powerpoint/2010/main" val="522662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3465576" y="274955"/>
            <a:ext cx="7955280" cy="804672"/>
          </a:xfrm>
        </p:spPr>
        <p:txBody>
          <a:bodyPr anchor="b" anchorCtr="0"/>
          <a:lstStyle/>
          <a:p>
            <a:r>
              <a:rPr lang="en-US" dirty="0"/>
              <a:t>Sources</a:t>
            </a:r>
          </a:p>
        </p:txBody>
      </p:sp>
      <p:sp>
        <p:nvSpPr>
          <p:cNvPr id="14" name="Text Placeholder 13">
            <a:extLst>
              <a:ext uri="{FF2B5EF4-FFF2-40B4-BE49-F238E27FC236}">
                <a16:creationId xmlns:a16="http://schemas.microsoft.com/office/drawing/2014/main" id="{C78180D0-1AB6-8416-0EB1-10648E1A6050}"/>
              </a:ext>
            </a:extLst>
          </p:cNvPr>
          <p:cNvSpPr>
            <a:spLocks noGrp="1"/>
          </p:cNvSpPr>
          <p:nvPr>
            <p:ph idx="14"/>
          </p:nvPr>
        </p:nvSpPr>
        <p:spPr>
          <a:xfrm>
            <a:off x="3465576" y="1079627"/>
            <a:ext cx="6656832" cy="5266744"/>
          </a:xfrm>
        </p:spPr>
        <p:txBody>
          <a:bodyPr>
            <a:normAutofit fontScale="85000" lnSpcReduction="20000"/>
          </a:bodyPr>
          <a:lstStyle/>
          <a:p>
            <a:pPr marL="0" indent="0">
              <a:buNone/>
            </a:pPr>
            <a:r>
              <a:rPr lang="en-US" dirty="0" err="1"/>
              <a:t>Chcomley</a:t>
            </a:r>
            <a:r>
              <a:rPr lang="en-US" dirty="0"/>
              <a:t>. (n.d.). </a:t>
            </a:r>
            <a:r>
              <a:rPr lang="en-US" i="1" dirty="0"/>
              <a:t>Make your azure </a:t>
            </a:r>
            <a:r>
              <a:rPr lang="en-US" i="1" dirty="0" err="1"/>
              <a:t>devops</a:t>
            </a:r>
            <a:r>
              <a:rPr lang="en-US" i="1" dirty="0"/>
              <a:t> secure - azure DevOps</a:t>
            </a:r>
            <a:r>
              <a:rPr lang="en-US" dirty="0"/>
              <a:t>. Azure DevOps | Microsoft Learn. https://learn.microsoft.com/en-us/azure/devops/organizations/security/security-overview?view=azure-devops </a:t>
            </a:r>
          </a:p>
          <a:p>
            <a:pPr marL="0" indent="0">
              <a:buNone/>
            </a:pPr>
            <a:r>
              <a:rPr lang="en-US" dirty="0"/>
              <a:t>The DevOps Guide to Mitigating Software Supply Chain Risks. (n.d.). https://cloudsmith.com/blog/the-devops-guide-to-mitigating-software-supply-chain-risks </a:t>
            </a:r>
          </a:p>
          <a:p>
            <a:pPr marL="0" indent="0">
              <a:buNone/>
            </a:pPr>
            <a:r>
              <a:rPr lang="en-US" i="1" dirty="0"/>
              <a:t>GitHub Advanced Security for azure </a:t>
            </a:r>
            <a:r>
              <a:rPr lang="en-US" i="1" dirty="0" err="1"/>
              <a:t>devops</a:t>
            </a:r>
            <a:r>
              <a:rPr lang="en-US" dirty="0"/>
              <a:t>. Cloud Computing Services. (n.d.). https://azure.microsoft.com/en-us/products/devops/github-advanced-security </a:t>
            </a:r>
          </a:p>
          <a:p>
            <a:pPr marL="0" indent="0">
              <a:buNone/>
            </a:pPr>
            <a:r>
              <a:rPr lang="en-US" dirty="0"/>
              <a:t>Harness. (2026, February 11). </a:t>
            </a:r>
            <a:r>
              <a:rPr lang="en-US" i="1" dirty="0"/>
              <a:t>Best practices for securing code repositories</a:t>
            </a:r>
            <a:r>
              <a:rPr lang="en-US" dirty="0"/>
              <a:t>. Harness.io. https://www.harness.io/harness-devops-academy/secure-code-repositories-best-practices#:~:text=Securing%20Code%20Repositories-,Implement%20Role-Based%20Access%20Control%20(RBAC),Monitor%20Repository%20Activity </a:t>
            </a:r>
          </a:p>
          <a:p>
            <a:pPr marL="0" indent="0">
              <a:buNone/>
            </a:pPr>
            <a:r>
              <a:rPr lang="en-US" dirty="0" err="1"/>
              <a:t>Juliakm</a:t>
            </a:r>
            <a:r>
              <a:rPr lang="en-US" dirty="0"/>
              <a:t>. (n.d.). </a:t>
            </a:r>
            <a:r>
              <a:rPr lang="en-US" i="1" dirty="0"/>
              <a:t>Access repositories from pipelines - azure pipelines</a:t>
            </a:r>
            <a:r>
              <a:rPr lang="en-US" dirty="0"/>
              <a:t>. Access repositories from pipelines - Azure Pipelines | Microsoft Learn. https://learn.microsoft.com/en-us/azure/devops/pipelines/security/secure-access-to-repos?view=azure-devops&amp;tabs=yaml </a:t>
            </a:r>
          </a:p>
          <a:p>
            <a:pPr marL="0" indent="0">
              <a:buNone/>
            </a:pPr>
            <a:r>
              <a:rPr lang="en-US" dirty="0"/>
              <a:t>steved0x. (n.d.). </a:t>
            </a:r>
            <a:r>
              <a:rPr lang="en-US" i="1" dirty="0"/>
              <a:t>DevOps security considerations Overview - Cloud Adoption Framework</a:t>
            </a:r>
            <a:r>
              <a:rPr lang="en-US" dirty="0"/>
              <a:t>. DevOps security considerations overview - Cloud Adoption Framework | Microsoft Learn. https://learn.microsoft.com/en-us/azure/cloud-adoption-framework/ready/considerations/security-considerations-overview </a:t>
            </a:r>
          </a:p>
          <a:p>
            <a:pPr marL="0" indent="0">
              <a:buNone/>
            </a:pPr>
            <a:r>
              <a:rPr lang="en-US" dirty="0"/>
              <a:t>Tal, L. (2023, November 16). </a:t>
            </a:r>
            <a:r>
              <a:rPr lang="en-US" i="1" dirty="0"/>
              <a:t>Securing source code in repositories is essential: How to get started</a:t>
            </a:r>
            <a:r>
              <a:rPr lang="en-US" dirty="0"/>
              <a:t>. </a:t>
            </a:r>
            <a:r>
              <a:rPr lang="en-US" dirty="0" err="1"/>
              <a:t>Snyk</a:t>
            </a:r>
            <a:r>
              <a:rPr lang="en-US" dirty="0"/>
              <a:t>. https://snyk.io/articles/securing-source-code-repositories/ </a:t>
            </a:r>
          </a:p>
          <a:p>
            <a:pPr marL="0" indent="0">
              <a:buNone/>
            </a:pPr>
            <a:endParaRPr lang="en-US" dirty="0"/>
          </a:p>
        </p:txBody>
      </p:sp>
      <p:sp>
        <p:nvSpPr>
          <p:cNvPr id="2" name="Slide Number Placeholder 1">
            <a:extLst>
              <a:ext uri="{FF2B5EF4-FFF2-40B4-BE49-F238E27FC236}">
                <a16:creationId xmlns:a16="http://schemas.microsoft.com/office/drawing/2014/main" id="{B2E4D147-B48C-ADE3-3FEF-627D467699A2}"/>
              </a:ext>
            </a:extLst>
          </p:cNvPr>
          <p:cNvSpPr>
            <a:spLocks noGrp="1"/>
          </p:cNvSpPr>
          <p:nvPr>
            <p:ph type="sldNum" sz="quarter" idx="40"/>
          </p:nvPr>
        </p:nvSpPr>
        <p:spPr>
          <a:xfrm>
            <a:off x="11194169" y="6217920"/>
            <a:ext cx="458592" cy="365125"/>
          </a:xfrm>
        </p:spPr>
        <p:txBody>
          <a:bodyPr/>
          <a:lstStyle/>
          <a:p>
            <a:fld id="{47FEACEE-25B4-4A2D-B147-27296E36371D}" type="slidenum">
              <a:rPr lang="en-US" altLang="zh-CN" noProof="0" smtClean="0"/>
              <a:pPr/>
              <a:t>9</a:t>
            </a:fld>
            <a:endParaRPr lang="en-US" altLang="zh-CN" noProof="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spTree>
    <p:extLst>
      <p:ext uri="{BB962C8B-B14F-4D97-AF65-F5344CB8AC3E}">
        <p14:creationId xmlns:p14="http://schemas.microsoft.com/office/powerpoint/2010/main" val="2519727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Zac Baker</a:t>
            </a:r>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2.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30</TotalTime>
  <Words>921</Words>
  <Application>Microsoft Office PowerPoint</Application>
  <PresentationFormat>Widescreen</PresentationFormat>
  <Paragraphs>52</Paragraphs>
  <Slides>10</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等线</vt:lpstr>
      <vt:lpstr>Abadi</vt:lpstr>
      <vt:lpstr>Arial</vt:lpstr>
      <vt:lpstr>Calibri</vt:lpstr>
      <vt:lpstr>Posterama</vt:lpstr>
      <vt:lpstr>Posterama Text SemiBold</vt:lpstr>
      <vt:lpstr>Custom</vt:lpstr>
      <vt:lpstr>Security Controls in Shared Source Code Repositories</vt:lpstr>
      <vt:lpstr>Agenda </vt:lpstr>
      <vt:lpstr>Access &amp; Identity Management</vt:lpstr>
      <vt:lpstr>Controlling Access</vt:lpstr>
      <vt:lpstr>Automated Security Scanning</vt:lpstr>
      <vt:lpstr>Automate the Process</vt:lpstr>
      <vt:lpstr>Policy &amp; Culture</vt:lpstr>
      <vt:lpstr>Creating an Identity</vt:lpstr>
      <vt:lpstr>Sources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zachary baker</dc:creator>
  <cp:lastModifiedBy>zachary baker</cp:lastModifiedBy>
  <cp:revision>38</cp:revision>
  <dcterms:created xsi:type="dcterms:W3CDTF">2026-03-09T02:43:13Z</dcterms:created>
  <dcterms:modified xsi:type="dcterms:W3CDTF">2026-03-09T03:14:13Z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