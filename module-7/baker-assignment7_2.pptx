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300" r:id="rId9"/>
    <p:sldId id="301" r:id="rId10"/>
    <p:sldId id="302" r:id="rId11"/>
    <p:sldId id="303" r:id="rId12"/>
    <p:sldId id="304" r:id="rId13"/>
    <p:sldId id="305" r:id="rId14"/>
    <p:sldId id="306" r:id="rId15"/>
    <p:sldId id="295"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814" autoAdjust="0"/>
  </p:normalViewPr>
  <p:slideViewPr>
    <p:cSldViewPr snapToGrid="0" showGuides="1">
      <p:cViewPr varScale="1">
        <p:scale>
          <a:sx n="56" d="100"/>
          <a:sy n="56" d="100"/>
        </p:scale>
        <p:origin x="1446" y="78"/>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2/20/2026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2/20/2026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a:t>
            </a:r>
          </a:p>
          <a:p>
            <a:r>
              <a:rPr lang="en-US" dirty="0"/>
              <a:t>   The traditional on-call system worked as a tiered team structure with entry level positions being Level 1 and a more senior position being something along the lines of Level 3. It was seen as more cost effective since Level 1 developers would be lower paid to solve the same issue. However, as the severity rises the cost for the solution also increases and in the instance where an issue is escalated it would pass through various levels thus increasing the time for a solution. This slowed down the response time which can cause discourse between the userbase and the organization.</a:t>
            </a:r>
          </a:p>
          <a:p>
            <a:endParaRPr lang="en-US" dirty="0"/>
          </a:p>
          <a:p>
            <a:r>
              <a:rPr lang="en-US" dirty="0"/>
              <a:t>Modern</a:t>
            </a:r>
          </a:p>
          <a:p>
            <a:r>
              <a:rPr lang="en-US" dirty="0"/>
              <a:t>   The modern approach is an evolution from the DevOps mindset and the concept of if you build if, you maintain it. Logically speaking, the developer who first created the code has the best knowledge for its structure and its operation thus would make the most sense for them to be primary on-call developer for that code. This means that for all the solutions and code blocks the developer creates, they are on-call for issues relating to those. Due to this, the developer may increase the testing to ensure that it works in all aspects before shipping it to deployment. </a:t>
            </a:r>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377399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03394-565A-20B2-ACED-DA88DAB16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A8D5B-7B3A-8AB5-23C2-AA7CE37CB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F2358-55E3-E807-37CA-B2AA8401F6CC}"/>
              </a:ext>
            </a:extLst>
          </p:cNvPr>
          <p:cNvSpPr>
            <a:spLocks noGrp="1"/>
          </p:cNvSpPr>
          <p:nvPr>
            <p:ph type="body" idx="1"/>
          </p:nvPr>
        </p:nvSpPr>
        <p:spPr/>
        <p:txBody>
          <a:bodyPr/>
          <a:lstStyle/>
          <a:p>
            <a:r>
              <a:rPr lang="en-US" dirty="0"/>
              <a:t>The main goal is to create a system or process that keeps the employee’s needs and wants in best interest. A system that hinders employees often have negative side effects within the work environment and their personal lives such as lack of sleep or social life. However, the goal is to have a system that is monitored and supported 24/7. This can be done either with the traditional or modern approach to on-call. Depending on which is needed, the model will look different. To ensure the system functions properly, employees need to be trained on the system and process itself and the most common issues that arise. Entry level developers or those inexperienced with on-call work environments should be allowed to shadow an experienced on-call developer to learn. Access to past incident reports allows developers to understand how pervious problems were solved and the steps that were taken to get there. This can be incredibly handy in the event that the issue is with the same block of code.</a:t>
            </a:r>
          </a:p>
        </p:txBody>
      </p:sp>
      <p:sp>
        <p:nvSpPr>
          <p:cNvPr id="4" name="Slide Number Placeholder 3">
            <a:extLst>
              <a:ext uri="{FF2B5EF4-FFF2-40B4-BE49-F238E27FC236}">
                <a16:creationId xmlns:a16="http://schemas.microsoft.com/office/drawing/2014/main" id="{033FCF51-9BD4-49CE-27C0-C287B8A739CE}"/>
              </a:ext>
            </a:extLst>
          </p:cNvPr>
          <p:cNvSpPr>
            <a:spLocks noGrp="1"/>
          </p:cNvSpPr>
          <p:nvPr>
            <p:ph type="sldNum" sz="quarter" idx="5"/>
          </p:nvPr>
        </p:nvSpPr>
        <p:spPr/>
        <p:txBody>
          <a:bodyPr/>
          <a:lstStyle/>
          <a:p>
            <a:fld id="{D060679C-80C7-4E7D-9614-ABA41C5B2858}" type="slidenum">
              <a:rPr lang="en-US" smtClean="0"/>
              <a:t>6</a:t>
            </a:fld>
            <a:endParaRPr lang="en-US" dirty="0"/>
          </a:p>
        </p:txBody>
      </p:sp>
    </p:spTree>
    <p:extLst>
      <p:ext uri="{BB962C8B-B14F-4D97-AF65-F5344CB8AC3E}">
        <p14:creationId xmlns:p14="http://schemas.microsoft.com/office/powerpoint/2010/main" val="37522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created from </a:t>
            </a:r>
            <a:r>
              <a:rPr lang="en-US" dirty="0" err="1"/>
              <a:t>Squadcast</a:t>
            </a:r>
            <a:r>
              <a:rPr lang="en-US" dirty="0"/>
              <a:t> on Medium.</a:t>
            </a:r>
          </a:p>
          <a:p>
            <a:endParaRPr lang="en-US" dirty="0"/>
          </a:p>
          <a:p>
            <a:r>
              <a:rPr lang="en-US" dirty="0"/>
              <a:t>Model examples showing the difference between a single-region and a global-region team. </a:t>
            </a:r>
          </a:p>
        </p:txBody>
      </p:sp>
      <p:sp>
        <p:nvSpPr>
          <p:cNvPr id="4" name="Slide Number Placeholder 3"/>
          <p:cNvSpPr>
            <a:spLocks noGrp="1"/>
          </p:cNvSpPr>
          <p:nvPr>
            <p:ph type="sldNum" sz="quarter" idx="5"/>
          </p:nvPr>
        </p:nvSpPr>
        <p:spPr/>
        <p:txBody>
          <a:bodyPr/>
          <a:lstStyle/>
          <a:p>
            <a:fld id="{D060679C-80C7-4E7D-9614-ABA41C5B2858}" type="slidenum">
              <a:rPr lang="en-US" smtClean="0"/>
              <a:t>7</a:t>
            </a:fld>
            <a:endParaRPr lang="en-US" dirty="0"/>
          </a:p>
        </p:txBody>
      </p:sp>
    </p:spTree>
    <p:extLst>
      <p:ext uri="{BB962C8B-B14F-4D97-AF65-F5344CB8AC3E}">
        <p14:creationId xmlns:p14="http://schemas.microsoft.com/office/powerpoint/2010/main" val="388853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11176-DA89-EC9C-E50D-F13BFBD95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9C47A-148D-68AC-3E88-18852AB56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B7AAB-1D4A-D96C-06AF-C3B01C8B5D1B}"/>
              </a:ext>
            </a:extLst>
          </p:cNvPr>
          <p:cNvSpPr>
            <a:spLocks noGrp="1"/>
          </p:cNvSpPr>
          <p:nvPr>
            <p:ph type="body" idx="1"/>
          </p:nvPr>
        </p:nvSpPr>
        <p:spPr/>
        <p:txBody>
          <a:bodyPr/>
          <a:lstStyle/>
          <a:p>
            <a:r>
              <a:rPr lang="en-US" dirty="0"/>
              <a:t>Communication is a crucial step in any environment and an on-call system is no different. Properly and effectively communicating the expectations that will be asked of the employees from the start is important. It sets the boundaries that can be expected of them and what is too far and unreasonable to expect such as setting a max amount of on-call instances each employee may have during any given month. With proper communication, this can be negotiated between the project lead and the developers if necessary.</a:t>
            </a:r>
          </a:p>
        </p:txBody>
      </p:sp>
      <p:sp>
        <p:nvSpPr>
          <p:cNvPr id="4" name="Slide Number Placeholder 3">
            <a:extLst>
              <a:ext uri="{FF2B5EF4-FFF2-40B4-BE49-F238E27FC236}">
                <a16:creationId xmlns:a16="http://schemas.microsoft.com/office/drawing/2014/main" id="{230B7C96-B223-C882-525B-DBFCADF7C86E}"/>
              </a:ext>
            </a:extLst>
          </p:cNvPr>
          <p:cNvSpPr>
            <a:spLocks noGrp="1"/>
          </p:cNvSpPr>
          <p:nvPr>
            <p:ph type="sldNum" sz="quarter" idx="5"/>
          </p:nvPr>
        </p:nvSpPr>
        <p:spPr/>
        <p:txBody>
          <a:bodyPr/>
          <a:lstStyle/>
          <a:p>
            <a:fld id="{D060679C-80C7-4E7D-9614-ABA41C5B2858}" type="slidenum">
              <a:rPr lang="en-US" smtClean="0"/>
              <a:t>9</a:t>
            </a:fld>
            <a:endParaRPr lang="en-US" dirty="0"/>
          </a:p>
        </p:txBody>
      </p:sp>
    </p:spTree>
    <p:extLst>
      <p:ext uri="{BB962C8B-B14F-4D97-AF65-F5344CB8AC3E}">
        <p14:creationId xmlns:p14="http://schemas.microsoft.com/office/powerpoint/2010/main" val="2894951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548F8-402B-FED2-3918-9E22EBD10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7F3B5-FECB-4A27-A82F-350A00A3F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063FC-F1B8-7763-4422-0597EF494A34}"/>
              </a:ext>
            </a:extLst>
          </p:cNvPr>
          <p:cNvSpPr>
            <a:spLocks noGrp="1"/>
          </p:cNvSpPr>
          <p:nvPr>
            <p:ph type="body" idx="1"/>
          </p:nvPr>
        </p:nvSpPr>
        <p:spPr/>
        <p:txBody>
          <a:bodyPr/>
          <a:lstStyle/>
          <a:p>
            <a:r>
              <a:rPr lang="en-US" dirty="0"/>
              <a:t>It is recommended that on-call and regular development duties remain separate tasks. Not only can constant on-call instances negatively impact the developer, such as burnout, fatigue, or dissatisfaction, but it is inefficient. The more on-call instances a developer faces, the less time they have for regular development tasks that may be set for them. Due to this, the priority should be regular development tasks with on-call instances being issues when there is spare or downtime. This is not to say that in the event of a severe issue such as security vulnerability, breach, etc.</a:t>
            </a:r>
          </a:p>
        </p:txBody>
      </p:sp>
      <p:sp>
        <p:nvSpPr>
          <p:cNvPr id="4" name="Slide Number Placeholder 3">
            <a:extLst>
              <a:ext uri="{FF2B5EF4-FFF2-40B4-BE49-F238E27FC236}">
                <a16:creationId xmlns:a16="http://schemas.microsoft.com/office/drawing/2014/main" id="{9A9E9FDB-1004-786B-35FF-DFAFA4603E8F}"/>
              </a:ext>
            </a:extLst>
          </p:cNvPr>
          <p:cNvSpPr>
            <a:spLocks noGrp="1"/>
          </p:cNvSpPr>
          <p:nvPr>
            <p:ph type="sldNum" sz="quarter" idx="5"/>
          </p:nvPr>
        </p:nvSpPr>
        <p:spPr/>
        <p:txBody>
          <a:bodyPr/>
          <a:lstStyle/>
          <a:p>
            <a:fld id="{D060679C-80C7-4E7D-9614-ABA41C5B2858}" type="slidenum">
              <a:rPr lang="en-US" smtClean="0"/>
              <a:t>11</a:t>
            </a:fld>
            <a:endParaRPr lang="en-US" dirty="0"/>
          </a:p>
        </p:txBody>
      </p:sp>
    </p:spTree>
    <p:extLst>
      <p:ext uri="{BB962C8B-B14F-4D97-AF65-F5344CB8AC3E}">
        <p14:creationId xmlns:p14="http://schemas.microsoft.com/office/powerpoint/2010/main" val="102031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Pager</a:t>
            </a:r>
            <a:br>
              <a:rPr lang="en-US" altLang="zh-CN" dirty="0"/>
            </a:br>
            <a:r>
              <a:rPr lang="en-US" altLang="zh-CN" dirty="0"/>
              <a:t>Rotation</a:t>
            </a:r>
            <a:br>
              <a:rPr lang="en-US" altLang="zh-CN" dirty="0"/>
            </a:br>
            <a:r>
              <a:rPr lang="en-US" altLang="zh-CN" dirty="0"/>
              <a:t>Duties</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Zac Baker</a:t>
            </a:r>
          </a:p>
          <a:p>
            <a:r>
              <a:rPr lang="en-US" dirty="0"/>
              <a:t>Module 7.2 Assignment</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Traditional vs. Modern</a:t>
            </a:r>
          </a:p>
          <a:p>
            <a:r>
              <a:rPr lang="en-US" dirty="0"/>
              <a:t>On-call Structure</a:t>
            </a:r>
          </a:p>
          <a:p>
            <a:r>
              <a:rPr lang="en-US" dirty="0"/>
              <a:t>Communication</a:t>
            </a:r>
          </a:p>
          <a:p>
            <a:r>
              <a:rPr lang="en-US" dirty="0"/>
              <a:t>Separation of Duties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Traditional vs. Modern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Which one is better?</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You build it,</a:t>
            </a:r>
            <a:br>
              <a:rPr lang="en-US" dirty="0"/>
            </a:br>
            <a:r>
              <a:rPr lang="en-US" dirty="0"/>
              <a:t>You maintain it</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164969" y="1883664"/>
            <a:ext cx="5029200" cy="4334256"/>
          </a:xfrm>
          <a:noFill/>
        </p:spPr>
        <p:txBody>
          <a:bodyPr>
            <a:normAutofit/>
          </a:bodyPr>
          <a:lstStyle/>
          <a:p>
            <a:pPr marL="0" indent="0">
              <a:buNone/>
            </a:pPr>
            <a:r>
              <a:rPr lang="en-US" dirty="0"/>
              <a:t>Traditional</a:t>
            </a:r>
          </a:p>
          <a:p>
            <a:r>
              <a:rPr lang="en-US" dirty="0"/>
              <a:t>Tiered team structure</a:t>
            </a:r>
          </a:p>
          <a:p>
            <a:pPr lvl="1"/>
            <a:r>
              <a:rPr lang="en-US" dirty="0"/>
              <a:t>Level 1, Level 2, Level 3, etc.</a:t>
            </a:r>
          </a:p>
          <a:p>
            <a:r>
              <a:rPr lang="en-US" dirty="0"/>
              <a:t>Slower response with escalation in severity</a:t>
            </a:r>
          </a:p>
          <a:p>
            <a:pPr marL="0" indent="0">
              <a:buNone/>
            </a:pPr>
            <a:r>
              <a:rPr lang="en-US" dirty="0"/>
              <a:t>Modern</a:t>
            </a:r>
          </a:p>
          <a:p>
            <a:r>
              <a:rPr lang="en-US" dirty="0"/>
              <a:t>Developer maintains their own code</a:t>
            </a:r>
          </a:p>
          <a:p>
            <a:r>
              <a:rPr lang="en-US" dirty="0"/>
              <a:t>More familiar with the solution</a:t>
            </a:r>
          </a:p>
          <a:p>
            <a:r>
              <a:rPr lang="en-US" dirty="0"/>
              <a:t>On-call for their own solutions</a:t>
            </a:r>
          </a:p>
          <a:p>
            <a:r>
              <a:rPr lang="en-US" dirty="0"/>
              <a:t>More testing before deployment</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D844-ACE3-D4F7-8FDE-7DDD36C9D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3869B-1EB6-7EF0-A4AE-7B0DEC9504F2}"/>
              </a:ext>
            </a:extLst>
          </p:cNvPr>
          <p:cNvSpPr>
            <a:spLocks noGrp="1"/>
          </p:cNvSpPr>
          <p:nvPr>
            <p:ph type="title"/>
          </p:nvPr>
        </p:nvSpPr>
        <p:spPr>
          <a:xfrm>
            <a:off x="5998464" y="731520"/>
            <a:ext cx="5029200" cy="3291840"/>
          </a:xfrm>
        </p:spPr>
        <p:txBody>
          <a:bodyPr lIns="0" anchor="b" anchorCtr="0"/>
          <a:lstStyle/>
          <a:p>
            <a:r>
              <a:rPr lang="en-US" dirty="0"/>
              <a:t>On-call Structure</a:t>
            </a:r>
          </a:p>
        </p:txBody>
      </p:sp>
      <p:sp>
        <p:nvSpPr>
          <p:cNvPr id="3" name="Text Placeholder 2">
            <a:extLst>
              <a:ext uri="{FF2B5EF4-FFF2-40B4-BE49-F238E27FC236}">
                <a16:creationId xmlns:a16="http://schemas.microsoft.com/office/drawing/2014/main" id="{FD883112-EFE4-519D-A75D-21A33B9C88C3}"/>
              </a:ext>
            </a:extLst>
          </p:cNvPr>
          <p:cNvSpPr>
            <a:spLocks noGrp="1"/>
          </p:cNvSpPr>
          <p:nvPr>
            <p:ph type="body" sz="quarter" idx="28"/>
          </p:nvPr>
        </p:nvSpPr>
        <p:spPr>
          <a:xfrm>
            <a:off x="6117336" y="4172084"/>
            <a:ext cx="4910328" cy="1005840"/>
          </a:xfrm>
        </p:spPr>
        <p:txBody>
          <a:bodyPr/>
          <a:lstStyle/>
          <a:p>
            <a:r>
              <a:rPr lang="en-US" dirty="0"/>
              <a:t>Creating a system employee’s like</a:t>
            </a:r>
          </a:p>
        </p:txBody>
      </p:sp>
    </p:spTree>
    <p:extLst>
      <p:ext uri="{BB962C8B-B14F-4D97-AF65-F5344CB8AC3E}">
        <p14:creationId xmlns:p14="http://schemas.microsoft.com/office/powerpoint/2010/main" val="1908977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BE6DC-D705-8F8B-9529-6837C3BF3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BA319-FCF7-DAC6-9911-572CBD0EE5FC}"/>
              </a:ext>
            </a:extLst>
          </p:cNvPr>
          <p:cNvSpPr>
            <a:spLocks noGrp="1"/>
          </p:cNvSpPr>
          <p:nvPr>
            <p:ph type="title"/>
          </p:nvPr>
        </p:nvSpPr>
        <p:spPr>
          <a:xfrm>
            <a:off x="914400" y="2487168"/>
            <a:ext cx="4572000" cy="3383280"/>
          </a:xfrm>
          <a:noFill/>
        </p:spPr>
        <p:txBody>
          <a:bodyPr anchor="t" anchorCtr="0">
            <a:noAutofit/>
          </a:bodyPr>
          <a:lstStyle/>
          <a:p>
            <a:r>
              <a:rPr lang="en-US" dirty="0"/>
              <a:t>Employee Centered</a:t>
            </a:r>
            <a:br>
              <a:rPr lang="en-US" dirty="0"/>
            </a:br>
            <a:r>
              <a:rPr lang="en-US" dirty="0"/>
              <a:t>System</a:t>
            </a:r>
          </a:p>
        </p:txBody>
      </p:sp>
      <p:sp>
        <p:nvSpPr>
          <p:cNvPr id="3" name="Content Placeholder 2">
            <a:extLst>
              <a:ext uri="{FF2B5EF4-FFF2-40B4-BE49-F238E27FC236}">
                <a16:creationId xmlns:a16="http://schemas.microsoft.com/office/drawing/2014/main" id="{6C868E9C-38E2-B64F-CC15-992D3B4D7EAD}"/>
              </a:ext>
            </a:extLst>
          </p:cNvPr>
          <p:cNvSpPr>
            <a:spLocks noGrp="1"/>
          </p:cNvSpPr>
          <p:nvPr>
            <p:ph idx="1"/>
          </p:nvPr>
        </p:nvSpPr>
        <p:spPr>
          <a:xfrm>
            <a:off x="6164969" y="2487168"/>
            <a:ext cx="5029200" cy="3961030"/>
          </a:xfrm>
          <a:noFill/>
        </p:spPr>
        <p:txBody>
          <a:bodyPr>
            <a:normAutofit/>
          </a:bodyPr>
          <a:lstStyle/>
          <a:p>
            <a:r>
              <a:rPr lang="en-US" dirty="0"/>
              <a:t>Unbalanced on-call hours lead to negative side affects</a:t>
            </a:r>
          </a:p>
          <a:p>
            <a:r>
              <a:rPr lang="en-US" dirty="0"/>
              <a:t>Create the system that works the best for employees</a:t>
            </a:r>
          </a:p>
          <a:p>
            <a:r>
              <a:rPr lang="en-US" dirty="0"/>
              <a:t>System that is supported 24/7</a:t>
            </a:r>
          </a:p>
          <a:p>
            <a:r>
              <a:rPr lang="en-US" dirty="0"/>
              <a:t>Provide proper training</a:t>
            </a:r>
          </a:p>
          <a:p>
            <a:pPr lvl="1"/>
            <a:r>
              <a:rPr lang="en-US" dirty="0"/>
              <a:t>Process and common issues</a:t>
            </a:r>
          </a:p>
          <a:p>
            <a:pPr lvl="1"/>
            <a:r>
              <a:rPr lang="en-US" dirty="0"/>
              <a:t>Shadow experienced developers</a:t>
            </a:r>
          </a:p>
          <a:p>
            <a:pPr lvl="1"/>
            <a:r>
              <a:rPr lang="en-US" dirty="0"/>
              <a:t>Access to past incident reports</a:t>
            </a:r>
          </a:p>
        </p:txBody>
      </p:sp>
      <p:sp>
        <p:nvSpPr>
          <p:cNvPr id="4" name="Slide Number Placeholder 3">
            <a:extLst>
              <a:ext uri="{FF2B5EF4-FFF2-40B4-BE49-F238E27FC236}">
                <a16:creationId xmlns:a16="http://schemas.microsoft.com/office/drawing/2014/main" id="{27B44485-1997-5746-6EFB-E004DDF62EA3}"/>
              </a:ext>
            </a:extLst>
          </p:cNvPr>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3436057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78A3E-A293-D203-7CC6-3EC9991EDD66}"/>
              </a:ext>
            </a:extLst>
          </p:cNvPr>
          <p:cNvSpPr>
            <a:spLocks noGrp="1"/>
          </p:cNvSpPr>
          <p:nvPr>
            <p:ph type="title"/>
          </p:nvPr>
        </p:nvSpPr>
        <p:spPr>
          <a:xfrm>
            <a:off x="914400" y="242372"/>
            <a:ext cx="7132320" cy="1322024"/>
          </a:xfrm>
        </p:spPr>
        <p:txBody>
          <a:bodyPr>
            <a:normAutofit/>
          </a:bodyPr>
          <a:lstStyle/>
          <a:p>
            <a:r>
              <a:rPr lang="en-US" dirty="0"/>
              <a:t>Model Examples</a:t>
            </a:r>
          </a:p>
        </p:txBody>
      </p:sp>
      <p:sp>
        <p:nvSpPr>
          <p:cNvPr id="3" name="Content Placeholder 2">
            <a:extLst>
              <a:ext uri="{FF2B5EF4-FFF2-40B4-BE49-F238E27FC236}">
                <a16:creationId xmlns:a16="http://schemas.microsoft.com/office/drawing/2014/main" id="{6A5FF268-9E26-3BA5-BD91-99E19CBDC99C}"/>
              </a:ext>
            </a:extLst>
          </p:cNvPr>
          <p:cNvSpPr>
            <a:spLocks noGrp="1"/>
          </p:cNvSpPr>
          <p:nvPr>
            <p:ph idx="1"/>
          </p:nvPr>
        </p:nvSpPr>
        <p:spPr>
          <a:xfrm>
            <a:off x="914399" y="1707614"/>
            <a:ext cx="3547431" cy="4053106"/>
          </a:xfrm>
        </p:spPr>
        <p:txBody>
          <a:bodyPr>
            <a:normAutofit fontScale="92500" lnSpcReduction="20000"/>
          </a:bodyPr>
          <a:lstStyle/>
          <a:p>
            <a:r>
              <a:rPr lang="en-US" dirty="0"/>
              <a:t>Single-Region Model</a:t>
            </a:r>
          </a:p>
          <a:p>
            <a:pPr lvl="1"/>
            <a:r>
              <a:rPr lang="en-US" dirty="0"/>
              <a:t>Group 1</a:t>
            </a:r>
          </a:p>
          <a:p>
            <a:pPr lvl="2"/>
            <a:r>
              <a:rPr lang="en-US" dirty="0"/>
              <a:t>Jan-Mar: 10 am – 4 pm</a:t>
            </a:r>
          </a:p>
          <a:p>
            <a:pPr lvl="2"/>
            <a:r>
              <a:rPr lang="en-US" dirty="0"/>
              <a:t>Apr-Jun: 4 pm – 10 pm</a:t>
            </a:r>
          </a:p>
          <a:p>
            <a:pPr lvl="2"/>
            <a:r>
              <a:rPr lang="en-US" dirty="0"/>
              <a:t>Jul-Sep: 10 pm – 4 am</a:t>
            </a:r>
          </a:p>
          <a:p>
            <a:pPr lvl="2"/>
            <a:r>
              <a:rPr lang="en-US" dirty="0"/>
              <a:t>Oct-Dec: 4 am – 10 am</a:t>
            </a:r>
          </a:p>
          <a:p>
            <a:pPr lvl="1"/>
            <a:r>
              <a:rPr lang="en-US" dirty="0"/>
              <a:t>Group 2</a:t>
            </a:r>
          </a:p>
          <a:p>
            <a:pPr lvl="2"/>
            <a:r>
              <a:rPr lang="en-US" dirty="0"/>
              <a:t>Jan-Mar: 4 pm – 10 pm</a:t>
            </a:r>
          </a:p>
          <a:p>
            <a:pPr lvl="2"/>
            <a:r>
              <a:rPr lang="en-US" dirty="0"/>
              <a:t>Apr-Jun: 10 pm – 4 am</a:t>
            </a:r>
          </a:p>
          <a:p>
            <a:pPr lvl="2"/>
            <a:r>
              <a:rPr lang="en-US" dirty="0"/>
              <a:t>Jul-Sep: 4 am – 10 am</a:t>
            </a:r>
          </a:p>
          <a:p>
            <a:pPr lvl="2"/>
            <a:r>
              <a:rPr lang="en-US" dirty="0"/>
              <a:t>Oct-Dec: 10 am – 4 pm</a:t>
            </a:r>
          </a:p>
          <a:p>
            <a:endParaRPr lang="en-US" dirty="0"/>
          </a:p>
        </p:txBody>
      </p:sp>
      <p:sp>
        <p:nvSpPr>
          <p:cNvPr id="4" name="Content Placeholder 3">
            <a:extLst>
              <a:ext uri="{FF2B5EF4-FFF2-40B4-BE49-F238E27FC236}">
                <a16:creationId xmlns:a16="http://schemas.microsoft.com/office/drawing/2014/main" id="{84C76F7A-3A39-FEB3-B011-9A142B1ABEA1}"/>
              </a:ext>
            </a:extLst>
          </p:cNvPr>
          <p:cNvSpPr>
            <a:spLocks noGrp="1"/>
          </p:cNvSpPr>
          <p:nvPr>
            <p:ph idx="56"/>
          </p:nvPr>
        </p:nvSpPr>
        <p:spPr>
          <a:xfrm>
            <a:off x="4873863" y="1707614"/>
            <a:ext cx="3547431" cy="4053106"/>
          </a:xfrm>
        </p:spPr>
        <p:txBody>
          <a:bodyPr>
            <a:normAutofit/>
          </a:bodyPr>
          <a:lstStyle/>
          <a:p>
            <a:r>
              <a:rPr lang="en-US" dirty="0"/>
              <a:t>Follow-the-Sun Model (Global Teams)</a:t>
            </a:r>
          </a:p>
          <a:p>
            <a:pPr lvl="1"/>
            <a:r>
              <a:rPr lang="en-US" dirty="0"/>
              <a:t>CST: 10 am – 4 pm</a:t>
            </a:r>
          </a:p>
          <a:p>
            <a:pPr lvl="1"/>
            <a:r>
              <a:rPr lang="en-US" dirty="0"/>
              <a:t>AEDT: 8 am – 2 pm (4 pm – 10 pm CST)</a:t>
            </a:r>
          </a:p>
          <a:p>
            <a:pPr lvl="1"/>
            <a:r>
              <a:rPr lang="en-US" dirty="0"/>
              <a:t>SGT: 11 am – 5pm  (10 pm – 4 am CST)</a:t>
            </a:r>
          </a:p>
          <a:p>
            <a:pPr lvl="1"/>
            <a:r>
              <a:rPr lang="en-US" dirty="0"/>
              <a:t>GMT: 9 am – 3 pm (4 am – 10 am CST)</a:t>
            </a:r>
          </a:p>
          <a:p>
            <a:endParaRPr lang="en-US" dirty="0"/>
          </a:p>
        </p:txBody>
      </p:sp>
      <p:sp>
        <p:nvSpPr>
          <p:cNvPr id="5" name="Slide Number Placeholder 4">
            <a:extLst>
              <a:ext uri="{FF2B5EF4-FFF2-40B4-BE49-F238E27FC236}">
                <a16:creationId xmlns:a16="http://schemas.microsoft.com/office/drawing/2014/main" id="{EB824E29-D868-544D-0A24-1C6E8C742FBB}"/>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
        <p:nvSpPr>
          <p:cNvPr id="6" name="TextBox 5">
            <a:extLst>
              <a:ext uri="{FF2B5EF4-FFF2-40B4-BE49-F238E27FC236}">
                <a16:creationId xmlns:a16="http://schemas.microsoft.com/office/drawing/2014/main" id="{6F00F9FB-E24B-9624-2E73-863CAD43C24E}"/>
              </a:ext>
            </a:extLst>
          </p:cNvPr>
          <p:cNvSpPr txBox="1"/>
          <p:nvPr/>
        </p:nvSpPr>
        <p:spPr>
          <a:xfrm>
            <a:off x="4480561" y="1707614"/>
            <a:ext cx="69406" cy="3955056"/>
          </a:xfrm>
          <a:prstGeom prst="rect">
            <a:avLst/>
          </a:prstGeom>
          <a:solidFill>
            <a:schemeClr val="bg1"/>
          </a:solidFill>
          <a:effectLst/>
        </p:spPr>
        <p:txBody>
          <a:bodyPr wrap="square" rtlCol="0">
            <a:spAutoFit/>
          </a:bodyPr>
          <a:lstStyle/>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
        <p:nvSpPr>
          <p:cNvPr id="7" name="Content Placeholder 2">
            <a:extLst>
              <a:ext uri="{FF2B5EF4-FFF2-40B4-BE49-F238E27FC236}">
                <a16:creationId xmlns:a16="http://schemas.microsoft.com/office/drawing/2014/main" id="{A4C4591C-B581-0AD7-CB00-042832DF6896}"/>
              </a:ext>
            </a:extLst>
          </p:cNvPr>
          <p:cNvSpPr txBox="1">
            <a:spLocks/>
          </p:cNvSpPr>
          <p:nvPr/>
        </p:nvSpPr>
        <p:spPr>
          <a:xfrm>
            <a:off x="914399" y="6013189"/>
            <a:ext cx="2118541" cy="40946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500"/>
              </a:spcBef>
              <a:buFont typeface="Arial" panose="020B0604020202020204" pitchFamily="34" charset="0"/>
              <a:buNone/>
              <a:defRPr sz="1800" kern="1200">
                <a:solidFill>
                  <a:schemeClr val="bg1"/>
                </a:solidFill>
                <a:latin typeface="+mn-lt"/>
                <a:ea typeface="+mn-ea"/>
                <a:cs typeface="+mn-cs"/>
              </a:defRPr>
            </a:lvl1pPr>
            <a:lvl2pPr marL="347472"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2pPr>
            <a:lvl3pPr marL="73152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3pPr>
            <a:lvl4pPr marL="109728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a:r>
            <a:r>
              <a:rPr lang="en-US" dirty="0" err="1"/>
              <a:t>Squadcast</a:t>
            </a:r>
            <a:r>
              <a:rPr lang="en-US" dirty="0"/>
              <a:t>, 2025)</a:t>
            </a:r>
          </a:p>
        </p:txBody>
      </p:sp>
    </p:spTree>
    <p:extLst>
      <p:ext uri="{BB962C8B-B14F-4D97-AF65-F5344CB8AC3E}">
        <p14:creationId xmlns:p14="http://schemas.microsoft.com/office/powerpoint/2010/main" val="287942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9058B-855E-37EB-2CE1-B439B42EB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5C3A5-3322-974A-BC17-A48F1123916A}"/>
              </a:ext>
            </a:extLst>
          </p:cNvPr>
          <p:cNvSpPr>
            <a:spLocks noGrp="1"/>
          </p:cNvSpPr>
          <p:nvPr>
            <p:ph type="title"/>
          </p:nvPr>
        </p:nvSpPr>
        <p:spPr>
          <a:xfrm>
            <a:off x="5998464" y="731520"/>
            <a:ext cx="5029200" cy="3291840"/>
          </a:xfrm>
        </p:spPr>
        <p:txBody>
          <a:bodyPr lIns="0" anchor="b" anchorCtr="0"/>
          <a:lstStyle/>
          <a:p>
            <a:r>
              <a:rPr lang="en-US" dirty="0"/>
              <a:t>Communication</a:t>
            </a:r>
          </a:p>
        </p:txBody>
      </p:sp>
      <p:sp>
        <p:nvSpPr>
          <p:cNvPr id="3" name="Text Placeholder 2">
            <a:extLst>
              <a:ext uri="{FF2B5EF4-FFF2-40B4-BE49-F238E27FC236}">
                <a16:creationId xmlns:a16="http://schemas.microsoft.com/office/drawing/2014/main" id="{7A216AFD-EAB8-30B1-BE22-2B123304BAFE}"/>
              </a:ext>
            </a:extLst>
          </p:cNvPr>
          <p:cNvSpPr>
            <a:spLocks noGrp="1"/>
          </p:cNvSpPr>
          <p:nvPr>
            <p:ph type="body" sz="quarter" idx="28"/>
          </p:nvPr>
        </p:nvSpPr>
        <p:spPr>
          <a:xfrm>
            <a:off x="6117336" y="4172084"/>
            <a:ext cx="4910328" cy="1005840"/>
          </a:xfrm>
        </p:spPr>
        <p:txBody>
          <a:bodyPr/>
          <a:lstStyle/>
          <a:p>
            <a:r>
              <a:rPr lang="en-US" dirty="0"/>
              <a:t>Effective communication is important</a:t>
            </a:r>
          </a:p>
        </p:txBody>
      </p:sp>
    </p:spTree>
    <p:extLst>
      <p:ext uri="{BB962C8B-B14F-4D97-AF65-F5344CB8AC3E}">
        <p14:creationId xmlns:p14="http://schemas.microsoft.com/office/powerpoint/2010/main" val="277894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C821-3E10-61EB-E065-3F1C3075E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54CF1-CBFA-5FEE-FDB5-B9B457535A9A}"/>
              </a:ext>
            </a:extLst>
          </p:cNvPr>
          <p:cNvSpPr>
            <a:spLocks noGrp="1"/>
          </p:cNvSpPr>
          <p:nvPr>
            <p:ph type="title"/>
          </p:nvPr>
        </p:nvSpPr>
        <p:spPr>
          <a:xfrm>
            <a:off x="914400" y="2487168"/>
            <a:ext cx="4572000" cy="3383280"/>
          </a:xfrm>
          <a:noFill/>
        </p:spPr>
        <p:txBody>
          <a:bodyPr anchor="t" anchorCtr="0">
            <a:noAutofit/>
          </a:bodyPr>
          <a:lstStyle/>
          <a:p>
            <a:r>
              <a:rPr lang="en-US" dirty="0"/>
              <a:t>Transparent </a:t>
            </a:r>
            <a:br>
              <a:rPr lang="en-US" dirty="0"/>
            </a:br>
            <a:r>
              <a:rPr lang="en-US" dirty="0"/>
              <a:t>with teams</a:t>
            </a:r>
          </a:p>
        </p:txBody>
      </p:sp>
      <p:sp>
        <p:nvSpPr>
          <p:cNvPr id="3" name="Content Placeholder 2">
            <a:extLst>
              <a:ext uri="{FF2B5EF4-FFF2-40B4-BE49-F238E27FC236}">
                <a16:creationId xmlns:a16="http://schemas.microsoft.com/office/drawing/2014/main" id="{0440FA3E-6A83-9D73-53AF-2EA0EF076997}"/>
              </a:ext>
            </a:extLst>
          </p:cNvPr>
          <p:cNvSpPr>
            <a:spLocks noGrp="1"/>
          </p:cNvSpPr>
          <p:nvPr>
            <p:ph idx="1"/>
          </p:nvPr>
        </p:nvSpPr>
        <p:spPr>
          <a:xfrm>
            <a:off x="6164969" y="2487168"/>
            <a:ext cx="5029200" cy="3961030"/>
          </a:xfrm>
          <a:noFill/>
        </p:spPr>
        <p:txBody>
          <a:bodyPr>
            <a:normAutofit/>
          </a:bodyPr>
          <a:lstStyle/>
          <a:p>
            <a:r>
              <a:rPr lang="en-US" dirty="0"/>
              <a:t>Communicate the expectations</a:t>
            </a:r>
          </a:p>
          <a:p>
            <a:r>
              <a:rPr lang="en-US" dirty="0"/>
              <a:t>Establish check-in process</a:t>
            </a:r>
          </a:p>
          <a:p>
            <a:r>
              <a:rPr lang="en-US" dirty="0"/>
              <a:t>Facilitate feedback for employees</a:t>
            </a:r>
          </a:p>
          <a:p>
            <a:r>
              <a:rPr lang="en-US" dirty="0"/>
              <a:t>Approximate events each month</a:t>
            </a:r>
          </a:p>
          <a:p>
            <a:r>
              <a:rPr lang="en-US" dirty="0"/>
              <a:t>Set a max</a:t>
            </a:r>
          </a:p>
          <a:p>
            <a:endParaRPr lang="en-US" dirty="0"/>
          </a:p>
        </p:txBody>
      </p:sp>
      <p:sp>
        <p:nvSpPr>
          <p:cNvPr id="4" name="Slide Number Placeholder 3">
            <a:extLst>
              <a:ext uri="{FF2B5EF4-FFF2-40B4-BE49-F238E27FC236}">
                <a16:creationId xmlns:a16="http://schemas.microsoft.com/office/drawing/2014/main" id="{882A3183-FBFA-AB15-832B-D646F8D4EE4E}"/>
              </a:ext>
            </a:extLst>
          </p:cNvPr>
          <p:cNvSpPr>
            <a:spLocks noGrp="1"/>
          </p:cNvSpPr>
          <p:nvPr>
            <p:ph type="sldNum" sz="quarter" idx="12"/>
          </p:nvPr>
        </p:nvSpPr>
        <p:spPr/>
        <p:txBody>
          <a:bodyPr/>
          <a:lstStyle/>
          <a:p>
            <a:fld id="{69E57DC2-970A-4B3E-BB1C-7A09969E49DF}" type="slidenum">
              <a:rPr lang="en-US" smtClean="0"/>
              <a:t>9</a:t>
            </a:fld>
            <a:endParaRPr lang="en-US" dirty="0"/>
          </a:p>
        </p:txBody>
      </p:sp>
    </p:spTree>
    <p:extLst>
      <p:ext uri="{BB962C8B-B14F-4D97-AF65-F5344CB8AC3E}">
        <p14:creationId xmlns:p14="http://schemas.microsoft.com/office/powerpoint/2010/main" val="292536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5C965-75A3-B766-844F-8FFC68814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59EB9-CCA7-4DFF-5823-8379B140BA74}"/>
              </a:ext>
            </a:extLst>
          </p:cNvPr>
          <p:cNvSpPr>
            <a:spLocks noGrp="1"/>
          </p:cNvSpPr>
          <p:nvPr>
            <p:ph type="title"/>
          </p:nvPr>
        </p:nvSpPr>
        <p:spPr>
          <a:xfrm>
            <a:off x="5998464" y="731520"/>
            <a:ext cx="5029200" cy="3291840"/>
          </a:xfrm>
        </p:spPr>
        <p:txBody>
          <a:bodyPr lIns="0" anchor="b" anchorCtr="0"/>
          <a:lstStyle/>
          <a:p>
            <a:r>
              <a:rPr lang="en-US" dirty="0"/>
              <a:t>Separation of</a:t>
            </a:r>
            <a:br>
              <a:rPr lang="en-US" dirty="0"/>
            </a:br>
            <a:r>
              <a:rPr lang="en-US" dirty="0"/>
              <a:t>Duties</a:t>
            </a:r>
          </a:p>
        </p:txBody>
      </p:sp>
      <p:sp>
        <p:nvSpPr>
          <p:cNvPr id="3" name="Text Placeholder 2">
            <a:extLst>
              <a:ext uri="{FF2B5EF4-FFF2-40B4-BE49-F238E27FC236}">
                <a16:creationId xmlns:a16="http://schemas.microsoft.com/office/drawing/2014/main" id="{149C8620-1035-4404-ACFE-3E881D75A08A}"/>
              </a:ext>
            </a:extLst>
          </p:cNvPr>
          <p:cNvSpPr>
            <a:spLocks noGrp="1"/>
          </p:cNvSpPr>
          <p:nvPr>
            <p:ph type="body" sz="quarter" idx="28"/>
          </p:nvPr>
        </p:nvSpPr>
        <p:spPr>
          <a:xfrm>
            <a:off x="6117336" y="4172084"/>
            <a:ext cx="4910328" cy="1005840"/>
          </a:xfrm>
        </p:spPr>
        <p:txBody>
          <a:bodyPr/>
          <a:lstStyle/>
          <a:p>
            <a:r>
              <a:rPr lang="en-US" dirty="0"/>
              <a:t>Am I an on-call developer or just a developer?</a:t>
            </a:r>
          </a:p>
        </p:txBody>
      </p:sp>
    </p:spTree>
    <p:extLst>
      <p:ext uri="{BB962C8B-B14F-4D97-AF65-F5344CB8AC3E}">
        <p14:creationId xmlns:p14="http://schemas.microsoft.com/office/powerpoint/2010/main" val="1565877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3EA6-0AC1-1947-FCA0-1ABD6F3E5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F3192-B270-2115-A228-60160264FE61}"/>
              </a:ext>
            </a:extLst>
          </p:cNvPr>
          <p:cNvSpPr>
            <a:spLocks noGrp="1"/>
          </p:cNvSpPr>
          <p:nvPr>
            <p:ph type="title"/>
          </p:nvPr>
        </p:nvSpPr>
        <p:spPr>
          <a:xfrm>
            <a:off x="914400" y="2487168"/>
            <a:ext cx="4572000" cy="3383280"/>
          </a:xfrm>
          <a:noFill/>
        </p:spPr>
        <p:txBody>
          <a:bodyPr anchor="t" anchorCtr="0">
            <a:noAutofit/>
          </a:bodyPr>
          <a:lstStyle/>
          <a:p>
            <a:r>
              <a:rPr lang="en-US" dirty="0"/>
              <a:t>Different </a:t>
            </a:r>
            <a:br>
              <a:rPr lang="en-US" dirty="0"/>
            </a:br>
            <a:r>
              <a:rPr lang="en-US" dirty="0"/>
              <a:t>Developer</a:t>
            </a:r>
            <a:br>
              <a:rPr lang="en-US" dirty="0"/>
            </a:br>
            <a:r>
              <a:rPr lang="en-US" dirty="0"/>
              <a:t>Tasks</a:t>
            </a:r>
          </a:p>
        </p:txBody>
      </p:sp>
      <p:sp>
        <p:nvSpPr>
          <p:cNvPr id="3" name="Content Placeholder 2">
            <a:extLst>
              <a:ext uri="{FF2B5EF4-FFF2-40B4-BE49-F238E27FC236}">
                <a16:creationId xmlns:a16="http://schemas.microsoft.com/office/drawing/2014/main" id="{650A786D-F16C-7FF0-8583-82CFDC3A26C1}"/>
              </a:ext>
            </a:extLst>
          </p:cNvPr>
          <p:cNvSpPr>
            <a:spLocks noGrp="1"/>
          </p:cNvSpPr>
          <p:nvPr>
            <p:ph idx="1"/>
          </p:nvPr>
        </p:nvSpPr>
        <p:spPr>
          <a:xfrm>
            <a:off x="6164969" y="2487168"/>
            <a:ext cx="5029200" cy="3961030"/>
          </a:xfrm>
          <a:noFill/>
        </p:spPr>
        <p:txBody>
          <a:bodyPr>
            <a:normAutofit/>
          </a:bodyPr>
          <a:lstStyle/>
          <a:p>
            <a:r>
              <a:rPr lang="en-US" dirty="0"/>
              <a:t>On-call instances and development duties are different</a:t>
            </a:r>
          </a:p>
          <a:p>
            <a:r>
              <a:rPr lang="en-US" dirty="0"/>
              <a:t>On-call can disrupt normal development tasks</a:t>
            </a:r>
          </a:p>
          <a:p>
            <a:pPr lvl="1"/>
            <a:r>
              <a:rPr lang="en-US" dirty="0"/>
              <a:t>Burnout </a:t>
            </a:r>
          </a:p>
          <a:p>
            <a:pPr lvl="1"/>
            <a:r>
              <a:rPr lang="en-US" dirty="0"/>
              <a:t>Fatigue</a:t>
            </a:r>
          </a:p>
          <a:p>
            <a:pPr lvl="1"/>
            <a:r>
              <a:rPr lang="en-US" dirty="0"/>
              <a:t>Dissatisfaction</a:t>
            </a:r>
          </a:p>
          <a:p>
            <a:r>
              <a:rPr lang="en-US" dirty="0"/>
              <a:t>Development tasks should not be disrupted by on-call tasks</a:t>
            </a:r>
          </a:p>
          <a:p>
            <a:r>
              <a:rPr lang="en-US" dirty="0"/>
              <a:t>On-call for spare time</a:t>
            </a:r>
          </a:p>
        </p:txBody>
      </p:sp>
      <p:sp>
        <p:nvSpPr>
          <p:cNvPr id="4" name="Slide Number Placeholder 3">
            <a:extLst>
              <a:ext uri="{FF2B5EF4-FFF2-40B4-BE49-F238E27FC236}">
                <a16:creationId xmlns:a16="http://schemas.microsoft.com/office/drawing/2014/main" id="{BE0106F1-BBA8-5D1A-F4A2-FE09B5BB471D}"/>
              </a:ext>
            </a:extLst>
          </p:cNvPr>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1708689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1499616"/>
            <a:ext cx="7955280" cy="1335024"/>
          </a:xfrm>
        </p:spPr>
        <p:txBody>
          <a:bodyPr anchor="b" anchorCtr="0"/>
          <a:lstStyle/>
          <a:p>
            <a:r>
              <a:rPr lang="en-US" dirty="0"/>
              <a:t>Sources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5" y="3108960"/>
            <a:ext cx="7474173" cy="3108960"/>
          </a:xfrm>
        </p:spPr>
        <p:txBody>
          <a:bodyPr/>
          <a:lstStyle/>
          <a:p>
            <a:pPr marL="0" indent="0">
              <a:buNone/>
            </a:pPr>
            <a:r>
              <a:rPr lang="en-US" dirty="0"/>
              <a:t>Atlassian. (n.d.). </a:t>
            </a:r>
            <a:r>
              <a:rPr lang="en-US" i="1" dirty="0"/>
              <a:t>A manager’s guide to improving on-call</a:t>
            </a:r>
            <a:r>
              <a:rPr lang="en-US" dirty="0"/>
              <a:t>. https://www.atlassian.com/incident-management/on-call/improving-on-call </a:t>
            </a:r>
          </a:p>
          <a:p>
            <a:pPr marL="0" indent="0">
              <a:buNone/>
            </a:pPr>
            <a:r>
              <a:rPr lang="en-US" dirty="0" err="1"/>
              <a:t>Squadcast</a:t>
            </a:r>
            <a:r>
              <a:rPr lang="en-US" dirty="0"/>
              <a:t>. (2025, February 27). </a:t>
            </a:r>
            <a:r>
              <a:rPr lang="en-US" i="1" dirty="0"/>
              <a:t>On-call rotation: A complete guide to best practices | by </a:t>
            </a:r>
            <a:r>
              <a:rPr lang="en-US" i="1" dirty="0" err="1"/>
              <a:t>squadcast</a:t>
            </a:r>
            <a:r>
              <a:rPr lang="en-US" i="1" dirty="0"/>
              <a:t> | medium</a:t>
            </a:r>
            <a:r>
              <a:rPr lang="en-US" dirty="0"/>
              <a:t>. Medium. https://medium.com/@squadcast/on-call-rotation-a-complete-guide-to-best-practices-997b0da54499 </a:t>
            </a:r>
            <a:endParaRPr lang="en-US" dirty="0">
              <a:effectLst/>
            </a:endParaRP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12</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Zac Baker</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242</TotalTime>
  <Words>1024</Words>
  <Application>Microsoft Office PowerPoint</Application>
  <PresentationFormat>Widescreen</PresentationFormat>
  <Paragraphs>98</Paragraphs>
  <Slides>13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Pager Rotation Duties</vt:lpstr>
      <vt:lpstr>Agenda </vt:lpstr>
      <vt:lpstr>Traditional vs. Modern</vt:lpstr>
      <vt:lpstr>You build it, You maintain it</vt:lpstr>
      <vt:lpstr>On-call Structure</vt:lpstr>
      <vt:lpstr>Employee Centered System</vt:lpstr>
      <vt:lpstr>Model Examples</vt:lpstr>
      <vt:lpstr>Communication</vt:lpstr>
      <vt:lpstr>Transparent  with teams</vt:lpstr>
      <vt:lpstr>Separation of Duties</vt:lpstr>
      <vt:lpstr>Different  Developer Tasks</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baker</dc:creator>
  <cp:lastModifiedBy>zachary baker</cp:lastModifiedBy>
  <cp:revision>58</cp:revision>
  <dcterms:created xsi:type="dcterms:W3CDTF">2026-02-20T16:13:21Z</dcterms:created>
  <dcterms:modified xsi:type="dcterms:W3CDTF">2026-02-20T20:17:16Z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